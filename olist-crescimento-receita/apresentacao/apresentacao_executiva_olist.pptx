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3B454"/>
                </a:solidFill>
                <a:latin typeface="Aptos"/>
              </a:defRPr>
            </a:pPr>
            <a:r>
              <a:t>PROJETO DE PÓS-GRADUAÇÃO  /  ANÁLISE EXECUTIVA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FFFFF"/>
                </a:solidFill>
                <a:latin typeface="Aptos"/>
              </a:defRPr>
            </a:pPr>
            <a:r>
              <a:t>OLIST  |  CRESCIMENTO</a:t>
            </a:r>
            <a:br/>
            <a:r>
              <a:t>E RECEITA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850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FFFFFF"/>
                </a:solidFill>
                <a:latin typeface="Aptos"/>
              </a:defRPr>
            </a:pPr>
            <a:r>
              <a:t>Crescer com eficiência, não apenas com volume.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6072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Base histórica Olist · IBGE 2018 · Ebit/Nielsen 2017–2018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9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8E91"/>
                </a:solidFill>
                <a:latin typeface="Aptos"/>
              </a:defRPr>
            </a:pPr>
            <a:r>
              <a:t>01  /  TESE DE INVESTIMENTO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D4A"/>
                </a:solidFill>
                <a:latin typeface="Aptos"/>
              </a:defRPr>
            </a:pPr>
            <a:r>
              <a:t>A expansão comercial é real na amostra; criar valor é a próxima decisão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44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7187"/>
                </a:solidFill>
                <a:latin typeface="Aptos"/>
              </a:defRPr>
            </a:pPr>
            <a:r>
              <a:t>GMV é medida de venda dos produtos entregues, não lucro nem receita contábil.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8309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7187"/>
                </a:solidFill>
                <a:latin typeface="Aptos"/>
              </a:defRPr>
            </a:pPr>
            <a:r>
              <a:t>OLIST • DADOS HISTÓRICOS 2016–2018 • ANÁLISE EXECUTIVA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718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337560" cy="132588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F7187"/>
                </a:solidFill>
                <a:latin typeface="Aptos"/>
              </a:defRPr>
            </a:pPr>
            <a:r>
              <a:t>GMV total histórico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78608"/>
            <a:ext cx="30632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D4A"/>
                </a:solidFill>
                <a:latin typeface="Aptos"/>
              </a:defRPr>
            </a:pPr>
            <a:r>
              <a:t>R$ 13,22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1810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7187"/>
                </a:solidFill>
                <a:latin typeface="Aptos"/>
              </a:defRPr>
            </a:pPr>
            <a:r>
              <a:t>Produtos, sem frete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148840"/>
            <a:ext cx="3337560" cy="132588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26771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F7187"/>
                </a:solidFill>
                <a:latin typeface="Aptos"/>
              </a:defRPr>
            </a:pPr>
            <a:r>
              <a:t>Pedidos entregues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578608"/>
            <a:ext cx="30632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D4A"/>
                </a:solidFill>
                <a:latin typeface="Aptos"/>
              </a:defRPr>
            </a:pPr>
            <a:r>
              <a:t>96.478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11810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7187"/>
                </a:solidFill>
                <a:latin typeface="Aptos"/>
              </a:defRPr>
            </a:pPr>
            <a:r>
              <a:t>Com itens vendidos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48840"/>
            <a:ext cx="3337560" cy="132588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26771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F7187"/>
                </a:solidFill>
                <a:latin typeface="Aptos"/>
              </a:defRPr>
            </a:pPr>
            <a:r>
              <a:t>Ticket médio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78608"/>
            <a:ext cx="30632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D4A"/>
                </a:solidFill>
                <a:latin typeface="Aptos"/>
              </a:defRPr>
            </a:pPr>
            <a:r>
              <a:t>R$ 137,04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1810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7187"/>
                </a:solidFill>
                <a:latin typeface="Aptos"/>
              </a:defRPr>
            </a:pPr>
            <a:r>
              <a:t>GMV por pedido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074920"/>
            <a:ext cx="10881360" cy="59436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5184648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D4A"/>
                </a:solidFill>
                <a:latin typeface="Aptos"/>
              </a:defRPr>
            </a:pPr>
            <a:r>
              <a:t>Direção: proteger categorias e sellers líderes; testar expansão com margem incremental.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9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8E91"/>
                </a:solidFill>
                <a:latin typeface="Aptos"/>
              </a:defRPr>
            </a:pPr>
            <a:r>
              <a:t>02 / ANÁLISE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D4A"/>
                </a:solidFill>
                <a:latin typeface="Aptos"/>
              </a:defRPr>
            </a:pPr>
            <a:r>
              <a:t>O crescimento foi sobretudo volumétrico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44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7187"/>
                </a:solidFill>
                <a:latin typeface="Aptos"/>
              </a:defRPr>
            </a:pPr>
            <a:r>
              <a:t>Jan–ago/2018 versus jan–ago/2017: GMV +141,1%; pedidos +139,9%; ticket +0,5%.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8309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7187"/>
                </a:solidFill>
                <a:latin typeface="Aptos"/>
              </a:defRPr>
            </a:pPr>
            <a:r>
              <a:t>OLIST • DADOS HISTÓRICOS 2016–2018 • ANÁLISE EXECUTIVA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7187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8" name="Picture 7" descr="cresci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56231"/>
            <a:ext cx="10424160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5623560"/>
            <a:ext cx="10881360" cy="59436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733288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D4A"/>
                </a:solidFill>
                <a:latin typeface="Aptos"/>
              </a:defRPr>
            </a:pPr>
            <a:r>
              <a:t>A pergunta não é só quanto cresce, mas a que custo cada pedido adicional.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9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8E91"/>
                </a:solidFill>
                <a:latin typeface="Aptos"/>
              </a:defRPr>
            </a:pPr>
            <a:r>
              <a:t>03 / PROFUNDIDADE ANALÍTICA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D4A"/>
                </a:solidFill>
                <a:latin typeface="Aptos"/>
              </a:defRPr>
            </a:pPr>
            <a:r>
              <a:t>A decomposição mostra a alavanca dominante: pedidos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44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7187"/>
                </a:solidFill>
                <a:latin typeface="Aptos"/>
              </a:defRPr>
            </a:pPr>
            <a:r>
              <a:t>Ponte aritmética exata do ganho de R$ 4,22 milhões de GMV.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8309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7187"/>
                </a:solidFill>
                <a:latin typeface="Aptos"/>
              </a:defRPr>
            </a:pPr>
            <a:r>
              <a:t>OLIST • DADOS HISTÓRICOS 2016–2018 • ANÁLISE EXECUTIVA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7187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8" name="Picture 7" descr="12_decomposicao_cresci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47088"/>
            <a:ext cx="10515600" cy="3886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5687568"/>
            <a:ext cx="10881360" cy="59436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797296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D4A"/>
                </a:solidFill>
                <a:latin typeface="Aptos"/>
              </a:defRPr>
            </a:pPr>
            <a:r>
              <a:t>A decomposição é matemática e não demonstra causalidade comercial.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9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8E91"/>
                </a:solidFill>
                <a:latin typeface="Aptos"/>
              </a:defRPr>
            </a:pPr>
            <a:r>
              <a:t>04 / CENÁRIOS DE CRESCIMENTO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D4A"/>
                </a:solidFill>
                <a:latin typeface="Aptos"/>
              </a:defRPr>
            </a:pPr>
            <a:r>
              <a:t>Três cenários testam sensibilidade; não preveem o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44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7187"/>
                </a:solidFill>
                <a:latin typeface="Aptos"/>
              </a:defRPr>
            </a:pPr>
            <a:r>
              <a:t>Base jan–ago/2018: R$ 7,22 milhões • janela de oito meses equivalente.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8309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7187"/>
                </a:solidFill>
                <a:latin typeface="Aptos"/>
              </a:defRPr>
            </a:pPr>
            <a:r>
              <a:t>OLIST • DADOS HISTÓRICOS 2016–2018 • ANÁLISE EXECUTIVA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7187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8" name="Picture 7" descr="13_cenarios_cresci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10515600" cy="3886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5650992"/>
            <a:ext cx="10881360" cy="59436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760720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D4A"/>
                </a:solidFill>
                <a:latin typeface="Aptos"/>
              </a:defRPr>
            </a:pPr>
            <a:r>
              <a:t>Cenário base (+10% pedidos; +3% ticket) → GMV hipotético de R$ 8,18 mi.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9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8E91"/>
                </a:solidFill>
                <a:latin typeface="Aptos"/>
              </a:defRPr>
            </a:pPr>
            <a:r>
              <a:t>05 / TESTES DE HIPÓTESE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D4A"/>
                </a:solidFill>
                <a:latin typeface="Aptos"/>
              </a:defRPr>
            </a:pPr>
            <a:r>
              <a:t>A sensibilidade evidencia o risco de queda no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44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7187"/>
                </a:solidFill>
                <a:latin typeface="Aptos"/>
              </a:defRPr>
            </a:pPr>
            <a:r>
              <a:t>Exemplo: +5% de pedidos com -3% de ticket → GMV +1,85%, e não +5%.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8309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7187"/>
                </a:solidFill>
                <a:latin typeface="Aptos"/>
              </a:defRPr>
            </a:pPr>
            <a:r>
              <a:t>OLIST • DADOS HISTÓRICOS 2016–2018 • ANÁLISE EXECUTIVA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7187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8" name="Picture 7" descr="14_matriz_sensibil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783080"/>
            <a:ext cx="9235440" cy="4069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879592"/>
            <a:ext cx="10515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7187"/>
                </a:solidFill>
                <a:latin typeface="Aptos"/>
              </a:defRPr>
            </a:pPr>
            <a:r>
              <a:t>Sensibilidade matemática; sem custos, lucros, probabilidades ou previsão temporal.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9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8E91"/>
                </a:solidFill>
                <a:latin typeface="Aptos"/>
              </a:defRPr>
            </a:pPr>
            <a:r>
              <a:t>06 / POTENCIAL REGIONAL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D4A"/>
                </a:solidFill>
                <a:latin typeface="Aptos"/>
              </a:defRPr>
            </a:pPr>
            <a:r>
              <a:t>BA, CE, PE e GO: candidatos a testes regionais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44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7187"/>
                </a:solidFill>
                <a:latin typeface="Aptos"/>
              </a:defRPr>
            </a:pPr>
            <a:r>
              <a:t>Triagem: população ≥ 3 mi; pedidos ≥ 500; índice de presença &lt; 0,85.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8309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7187"/>
                </a:solidFill>
                <a:latin typeface="Aptos"/>
              </a:defRPr>
            </a:pPr>
            <a:r>
              <a:t>OLIST • DADOS HISTÓRICOS 2016–2018 • ANÁLISE EXECUTIVA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7187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8" name="Picture 7" descr="15_triagem_reg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10241280" cy="3886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5669280"/>
            <a:ext cx="10881360" cy="59436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779008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D4A"/>
                </a:solidFill>
                <a:latin typeface="Aptos"/>
              </a:defRPr>
            </a:pPr>
            <a:r>
              <a:t>Exigir margem, CAC, frete e disponibilidade antes de alocar recursos.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9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8E91"/>
                </a:solidFill>
                <a:latin typeface="Aptos"/>
              </a:defRPr>
            </a:pPr>
            <a:r>
              <a:t>07 / CONCENTRAÇÃO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D4A"/>
                </a:solidFill>
                <a:latin typeface="Aptos"/>
              </a:defRPr>
            </a:pPr>
            <a:r>
              <a:t>Diversificar sem perder os motores de faturamento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44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7187"/>
                </a:solidFill>
                <a:latin typeface="Aptos"/>
              </a:defRPr>
            </a:pPr>
            <a:r>
              <a:t>Top 10 categorias: 62,4% do GMV | Top 10% sellers: 67,1% do GMV.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8309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7187"/>
                </a:solidFill>
                <a:latin typeface="Aptos"/>
              </a:defRPr>
            </a:pPr>
            <a:r>
              <a:t>OLIST • DADOS HISTÓRICOS 2016–2018 • ANÁLISE EXECUTIVA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7187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8" name="Picture 7" descr="catego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7315200" cy="40050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21040" y="2121408"/>
            <a:ext cx="3108960" cy="182880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41401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F7187"/>
                </a:solidFill>
                <a:latin typeface="Aptos"/>
              </a:defRPr>
            </a:pPr>
            <a:r>
              <a:t>Concentração sellers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798064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152D4A"/>
                </a:solidFill>
                <a:latin typeface="Aptos"/>
              </a:defRPr>
            </a:pPr>
            <a:r>
              <a:t>67,1%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4206240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52D4A"/>
                </a:solidFill>
                <a:latin typeface="Aptos"/>
              </a:defRPr>
            </a:pPr>
            <a:r>
              <a:t>Priorizar redundância de oferta, experiência do cliente e rentabilidade.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9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8E91"/>
                </a:solidFill>
                <a:latin typeface="Aptos"/>
              </a:defRPr>
            </a:pPr>
            <a:r>
              <a:t>08 / PLANO DE DECISÃO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D4A"/>
                </a:solidFill>
                <a:latin typeface="Aptos"/>
              </a:defRPr>
            </a:pPr>
            <a:r>
              <a:t>Investimento condicionado à evidência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44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7187"/>
                </a:solidFill>
                <a:latin typeface="Aptos"/>
              </a:defRPr>
            </a:pPr>
            <a:r>
              <a:t>Governança em 90 dias para testar, aprender e decidir.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8309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7187"/>
                </a:solidFill>
                <a:latin typeface="Aptos"/>
              </a:defRPr>
            </a:pPr>
            <a:r>
              <a:t>OLIST • DADOS HISTÓRICOS 2016–2018 • ANÁLISE EXECUTIVA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718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520440" cy="315468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8E91"/>
                </a:solidFill>
                <a:latin typeface="Aptos"/>
              </a:defRPr>
            </a:pPr>
            <a:r>
              <a:t>0–30 dias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D4A"/>
                </a:solidFill>
                <a:latin typeface="Aptos"/>
              </a:defRPr>
            </a:pPr>
            <a:r>
              <a:t>Medir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2F40"/>
                </a:solidFill>
                <a:latin typeface="Aptos"/>
              </a:defRPr>
            </a:pPr>
            <a:r>
              <a:t>Custos, margem por pedido, funil de compra, estoque e SLA.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965960"/>
            <a:ext cx="3520440" cy="315468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148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8E91"/>
                </a:solidFill>
                <a:latin typeface="Aptos"/>
              </a:defRPr>
            </a:pPr>
            <a:r>
              <a:t>31–60 dias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700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D4A"/>
                </a:solidFill>
                <a:latin typeface="Aptos"/>
              </a:defRPr>
            </a:pPr>
            <a:r>
              <a:t>Testar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33756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2F40"/>
                </a:solidFill>
                <a:latin typeface="Aptos"/>
              </a:defRPr>
            </a:pPr>
            <a:r>
              <a:t>Pilotos controlados em regiões selecionadas, comparados a um baseline.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965960"/>
            <a:ext cx="3520440" cy="315468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148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8E91"/>
                </a:solidFill>
                <a:latin typeface="Aptos"/>
              </a:defRPr>
            </a:pPr>
            <a:r>
              <a:t>61–90 dias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6700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D4A"/>
                </a:solidFill>
                <a:latin typeface="Aptos"/>
              </a:defRPr>
            </a:pPr>
            <a:r>
              <a:t>Decidir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3756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2F40"/>
                </a:solidFill>
                <a:latin typeface="Aptos"/>
              </a:defRPr>
            </a:pPr>
            <a:r>
              <a:t>Escalar somente com margem incremental positiva e serviço estável.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559552"/>
            <a:ext cx="10881360" cy="59436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5669280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D4A"/>
                </a:solidFill>
                <a:latin typeface="Aptos"/>
              </a:defRPr>
            </a:pPr>
            <a:r>
              <a:t>Sem margem, CAC e custo logístico, o GMV isolado não autoriza uma aposta de capital.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9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8E91"/>
                </a:solidFill>
                <a:latin typeface="Aptos"/>
              </a:defRPr>
            </a:pPr>
            <a:r>
              <a:t>09 / RECOMENDAÇÃO AO INVESTIDOR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D4A"/>
                </a:solidFill>
                <a:latin typeface="Aptos"/>
              </a:defRPr>
            </a:pPr>
            <a:r>
              <a:t>Conclusão: o próximo ganho deve ser validado economicamente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44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7187"/>
                </a:solidFill>
                <a:latin typeface="Aptos"/>
              </a:defRPr>
            </a:pPr>
            <a:r>
              <a:t>Evidências → hipóteses → critérios para decisão.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8309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7187"/>
                </a:solidFill>
                <a:latin typeface="Aptos"/>
              </a:defRPr>
            </a:pPr>
            <a:r>
              <a:t>OLIST • DADOS HISTÓRICOS 2016–2018 • ANÁLISE EXECUTIVA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71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0744200" cy="941832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98E91"/>
                </a:solidFill>
                <a:latin typeface="Aptos"/>
              </a:defRPr>
            </a:pPr>
            <a:r>
              <a:t>Evidência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30552"/>
            <a:ext cx="8229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F40"/>
                </a:solidFill>
                <a:latin typeface="Aptos"/>
              </a:defRPr>
            </a:pPr>
            <a:r>
              <a:t>GMV +141,1% e pedidos +139,9% no recorte comparável.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90672"/>
            <a:ext cx="10744200" cy="941832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735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98E91"/>
                </a:solidFill>
                <a:latin typeface="Aptos"/>
              </a:defRPr>
            </a:pPr>
            <a:r>
              <a:t>Hipótese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55264"/>
            <a:ext cx="8229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F40"/>
                </a:solidFill>
                <a:latin typeface="Aptos"/>
              </a:defRPr>
            </a:pPr>
            <a:r>
              <a:t>Cenários mostram impacto conjunto de volume e ticket; UF elegível não implica retorno.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33672"/>
            <a:ext cx="10744200" cy="941832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165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98E91"/>
                </a:solidFill>
                <a:latin typeface="Aptos"/>
              </a:defRPr>
            </a:pPr>
            <a:r>
              <a:t>Decisão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398264"/>
            <a:ext cx="8229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F40"/>
                </a:solidFill>
                <a:latin typeface="Aptos"/>
              </a:defRPr>
            </a:pPr>
            <a:r>
              <a:t>Aprovar pilotos condicionados; escalar apenas após mensurar margem, CAC e SLA.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15584"/>
            <a:ext cx="104241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7187"/>
                </a:solidFill>
                <a:latin typeface="Aptos"/>
              </a:defRPr>
            </a:pPr>
            <a:r>
              <a:t>Fontes: Olist, IBGE população 2018, Ebit/Nielsen 2017–2018. Dados históricos; sem análise de lucro.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